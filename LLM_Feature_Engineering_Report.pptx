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基于大语言模型的自动特征工程方案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F8EF7"/>
                </a:solidFill>
              </a:defRPr>
            </a:pPr>
            <a:r>
              <a:t>数字人民币反洗钱检测场景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474720"/>
            <a:ext cx="3047695" cy="27432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让 LLM 成为特征工程师：自动发现、生成、验证反洗钱特征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</a:defRPr>
            </a:pPr>
            <a:r>
              <a:t>2026年5月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</a:defRPr>
            </a:pPr>
            <a:r>
              <a:t>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汇报提纲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627632"/>
            <a:ext cx="502920" cy="50292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727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</a:defRPr>
            </a:pPr>
            <a:r>
              <a:t>问题定义与研究目标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20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</a:defRPr>
            </a:pPr>
            <a:r>
              <a:t>我们要解决什么问题，为什么需要 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3035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37960" y="1627632"/>
            <a:ext cx="502920" cy="50292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45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5727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</a:defRPr>
            </a:pPr>
            <a:r>
              <a:t>数据与领域知识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920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</a:defRPr>
            </a:pPr>
            <a:r>
              <a:t>SimECNY 三表数据、专家知识、人工基线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468880"/>
            <a:ext cx="53035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2633472"/>
            <a:ext cx="502920" cy="50292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651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5786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</a:defRPr>
            </a:pPr>
            <a:r>
              <a:t>参考文献与技术借鉴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926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</a:defRPr>
            </a:pPr>
            <a:r>
              <a:t>6 篇论文各借鉴了什么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468880"/>
            <a:ext cx="53035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37960" y="2633472"/>
            <a:ext cx="502920" cy="50292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651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5786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</a:defRPr>
            </a:pPr>
            <a:r>
              <a:t>系统架构设计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2926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</a:defRPr>
            </a:pPr>
            <a:r>
              <a:t>五大组件的融合方案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474720"/>
            <a:ext cx="53035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3639312"/>
            <a:ext cx="502920" cy="50292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657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5844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</a:defRPr>
            </a:pPr>
            <a:r>
              <a:t>核心流程详解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3931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</a:defRPr>
            </a:pPr>
            <a:r>
              <a:t>Phase 0-3 完整执行流程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474720"/>
            <a:ext cx="53035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37960" y="3639312"/>
            <a:ext cx="502920" cy="50292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3657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5844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</a:defRPr>
            </a:pPr>
            <a:r>
              <a:t>Prompt 设计与 LLM 接口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931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</a:defRPr>
            </a:pPr>
            <a:r>
              <a:t>System/User Prompt、可插拔模型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480560"/>
            <a:ext cx="53035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68680" y="4645152"/>
            <a:ext cx="502920" cy="50292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4663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45902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</a:defRPr>
            </a:pPr>
            <a:r>
              <a:t>四级验证框架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4937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</a:defRPr>
            </a:pPr>
            <a:r>
              <a:t>L1 代码 → L2 统计 → L3 模型 → L4 稳定性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4480560"/>
            <a:ext cx="53035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37960" y="4645152"/>
            <a:ext cx="502920" cy="50292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4663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45902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</a:defRPr>
            </a:pPr>
            <a:r>
              <a:t>创新点总结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4937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</a:defRPr>
            </a:pPr>
            <a:r>
              <a:t>5 个核心创新贡献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5486400"/>
            <a:ext cx="53035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68680" y="5650992"/>
            <a:ext cx="502920" cy="50292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" y="5669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54480" y="559612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</a:defRPr>
            </a:pPr>
            <a:r>
              <a:t>可行性评估与风险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54480" y="5943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</a:defRPr>
            </a:pPr>
            <a:r>
              <a:t>三档风险分析、实施建议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5486400"/>
            <a:ext cx="53035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37960" y="5650992"/>
            <a:ext cx="502920" cy="50292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7960" y="5669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3760" y="559612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</a:defRPr>
            </a:pPr>
            <a:r>
              <a:t>实施路线图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3760" y="5943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</a:defRPr>
            </a:pPr>
            <a:r>
              <a:t>四阶段时间规划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</a:defRPr>
            </a:pPr>
            <a: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01 问题定义与研究目标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FF"/>
                </a:solidFill>
              </a:defRPr>
            </a:pPr>
            <a:r>
              <a:t>为什么需要 LLM 自动特征工程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</a:defRPr>
            </a:pPr>
            <a:r>
              <a:t>当前现状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73152" cy="2286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029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已有人工设计的 40+ 个反洗钱检测特征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存在明确缺口：transaction_motif/mode 未用、设备/IP 未用、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  销户模块完全未实现、时间窗口仅 1H、无图拓扑特征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人工逐一设计新特征 → 效率低、容易遗漏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之前尝试的 458 条规则 → 全部失败（P/R/F1=0）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</a:defRPr>
            </a:pPr>
            <a:r>
              <a:t>研究目标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371600"/>
            <a:ext cx="73152" cy="2286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5029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92024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用 LLM 自动发现人工未覆盖的新特征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每个新特征必须满足三个要求：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  1. 生成可直接执行的 Python 代码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  2. 附带可解释性说明（领域依据）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  3. 经过验证确认有效（增量贡献）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预测目标：交易级二分类（is_risk, ~5%正样本）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</a:defRPr>
            </a:pPr>
            <a:r>
              <a:t>核心思路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46320"/>
            <a:ext cx="10698480" cy="109728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029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F8EF7"/>
                </a:solidFill>
              </a:defRPr>
            </a:pPr>
            <a:r>
              <a:t>构建一个系统，让 LLM 自动发现新特征并生成可执行代码，同时为每个特征提供领域依据的可解释性说明。</a:t>
            </a:r>
            <a:br/>
            <a:r>
              <a:t>人不去设计特征，LLM 是特征工程师。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</a:defRPr>
            </a:pPr>
            <a: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02 数据来源：SimECNY 三表结构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FF"/>
                </a:solidFill>
              </a:defRPr>
            </a:pPr>
            <a:r>
              <a:t>数字人民币模拟器生成的关联数据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66160" cy="64008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开户表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EEEEE"/>
                </a:solidFill>
              </a:defRPr>
            </a:pPr>
            <a:r>
              <a:t>16 字段 / 100K 钱包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35661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wallet_id — 钱包唯一标识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wallet_type — 1企业/2个人/3商户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wallet_level — 1-4类（限额不同）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wallet_open_cert — 身份证号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open_device / open_ip — 设备MAC/IP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is_abnormal — 是否异常（~5%）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566160" cy="640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38988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交易表（主表）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71907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EEEEE"/>
                </a:solidFill>
              </a:defRPr>
            </a:pPr>
            <a:r>
              <a:t>20 字段 / 预测目标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011680"/>
            <a:ext cx="35661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148840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tx_id / timestamp / amount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src / dst — 发送/接收方 wallet_id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transaction_motif — 7种交易动机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transaction_mode — 7种结构模式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is_risk — 预测标签（~5%风险）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src_device / src_ip / dst_device / dst_ip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566160" cy="6400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38988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销户表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71907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EEEEE"/>
                </a:solidFill>
              </a:defRPr>
            </a:pPr>
            <a:r>
              <a:t>6 字段 / 辅助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011680"/>
            <a:ext cx="35661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148840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wallet_id — 关联钱包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zs_channel — 销户渠道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zs_timestamp — 销户时间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is_zs_laundering — 是否洗钱销户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</a:defRPr>
            </a:pPr>
            <a:r>
              <a:t>三表关联关系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440680"/>
            <a:ext cx="11247120" cy="9144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5321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交易表.src (wallet_id)  →  开户表.wallet_id  →  获取发送方账户属性  |  交易表.dst (wallet_id)  →  开户表.wallet_id  →  获取接收方账户属性</a:t>
            </a:r>
            <a:br/>
            <a:r>
              <a:t>wallet_id 同时关联销户表，一个钱包可出现在多笔交易中（一对多关系）。LLM 生成的钱包级特征自动 merge 到 src/dst 两侧。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</a:defRPr>
            </a:pPr>
            <a: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02 数据集 8 种交易模式（注入 LLM Prompt）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FF"/>
                </a:solidFill>
              </a:defRPr>
            </a:pPr>
            <a:r>
              <a:t>浦发提供的数据集说明文档，作为领域知识注入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</a:defRPr>
            </a:pPr>
            <a:r>
              <a:t>正常交易模式（3 种）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</a:defRPr>
            </a:pPr>
            <a:r>
              <a:t>single_transaction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金额 1-5000 元</a:t>
            </a:r>
            <a:br/>
            <a:r>
              <a:t>高峰(9-11,14-16,19-21点)</a:t>
            </a:r>
            <a:br/>
            <a:r>
              <a:t>70%单笔 30%转发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691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</a:defRPr>
            </a:pPr>
            <a:r>
              <a:t>normal_small_high_freq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05740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金额 1-100 元</a:t>
            </a:r>
            <a:br/>
            <a:r>
              <a:t>日常消费</a:t>
            </a:r>
            <a:br/>
            <a:r>
              <a:t>各模式各 20%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691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</a:defRPr>
            </a:pPr>
            <a:r>
              <a:t>regular_large_low_freq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05740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金额 100-1000 元</a:t>
            </a:r>
            <a:br/>
            <a:r>
              <a:t>间隔 1H-3天</a:t>
            </a:r>
            <a:br/>
            <a:r>
              <a:t>偏向商户钱包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</a:defRPr>
            </a:pPr>
            <a:r>
              <a:t>风险交易模式（5 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566160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611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</a:defRPr>
            </a:pPr>
            <a:r>
              <a:t>small_amount_testing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950208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金额 0.01-0.1 元，深夜</a:t>
            </a:r>
            <a:br/>
            <a:r>
              <a:t>休眠账户(&gt;=90天)突然激活</a:t>
            </a:r>
            <a:br/>
            <a:r>
              <a:t>40%扇入 60%扇出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566160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3611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</a:defRPr>
            </a:pPr>
            <a:r>
              <a:t>merchant_laundering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950208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金额 10-1000 元，仅商户钱包</a:t>
            </a:r>
            <a:br/>
            <a:r>
              <a:t>跨行90%，同地区80%</a:t>
            </a:r>
            <a:br/>
            <a:r>
              <a:t>佣金 7-9%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566160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3611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</a:defRPr>
            </a:pPr>
            <a:r>
              <a:t>class4_laundering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950208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金额 100-2000 元，深夜</a:t>
            </a:r>
            <a:br/>
            <a:r>
              <a:t>仅4类钱包</a:t>
            </a:r>
            <a:br/>
            <a:r>
              <a:t>日限额 5000 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120640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166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</a:defRPr>
            </a:pPr>
            <a:r>
              <a:t>online_laundering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504688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金额 10-1000 元</a:t>
            </a:r>
            <a:br/>
            <a:r>
              <a:t>深夜(20-1点)</a:t>
            </a:r>
            <a:br/>
            <a:r>
              <a:t>交易次数多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5120640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5166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</a:defRPr>
            </a:pPr>
            <a:r>
              <a:t>victim_laundering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5504688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诱导: 设备IP与开户一致</a:t>
            </a:r>
            <a:br/>
            <a:r>
              <a:t>盗用: 设备IP与开户不一致</a:t>
            </a:r>
            <a:br/>
            <a:r>
              <a:t>两种子模式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760720"/>
            <a:ext cx="11247120" cy="5029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8EF7"/>
                </a:solidFill>
              </a:defRPr>
            </a:pPr>
            <a:r>
              <a:t>这些模式说明作为浦发数据集文档注入 System Prompt（~1200 token），帮助 LLM 理解数据生成逻辑，精准构造特征。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</a:defRPr>
            </a:pPr>
            <a: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02 领域知识与人工基线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FF"/>
                </a:solidFill>
              </a:defRPr>
            </a:pPr>
            <a:r>
              <a:t>我们独有的数据资产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</a:defRPr>
            </a:pPr>
            <a:r>
              <a:t>领域知识资产（注入 System Prompt）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029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1965960"/>
            <a:ext cx="1005840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9659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~1200 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</a:defRPr>
            </a:pPr>
            <a:r>
              <a:t>8种交易模式说明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浦发数据集文档：3正常+5风险模式</a:t>
            </a:r>
            <a:br/>
            <a:r>
              <a:t>金额/时间/交易模式/特殊条件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71800"/>
            <a:ext cx="5029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63440" y="3017520"/>
            <a:ext cx="1005840" cy="32004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017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~800 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63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EF7"/>
                </a:solidFill>
              </a:defRPr>
            </a:pPr>
            <a:r>
              <a:t>专家访谈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29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4 类洗钱模式详细描述</a:t>
            </a:r>
            <a:br/>
            <a:r>
              <a:t>薅羊毛/线下跑分/线上跑分/商户收款码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5029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63440" y="4069080"/>
            <a:ext cx="1005840" cy="3200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40690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~1000 token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114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</a:defRPr>
            </a:pPr>
            <a:r>
              <a:t>可疑交易识别点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80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12 类 200+ 个识别点</a:t>
            </a:r>
            <a:br/>
            <a:r>
              <a:t>压缩为每类 top-3（36 条）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74920"/>
            <a:ext cx="5029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63440" y="5120640"/>
            <a:ext cx="1005840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51206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~1000 token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166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</a:defRPr>
            </a:pPr>
            <a:r>
              <a:t>风险分类表+检测规则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532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38 个风险指标(4维度) + 15 条种子规则</a:t>
            </a:r>
            <a:br/>
            <a:r>
              <a:t>→ Python 函数示例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</a:defRPr>
            </a:pPr>
            <a:r>
              <a:t>人工基线 40+ 特征的关键缺口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920240"/>
            <a:ext cx="50292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201168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transaction_motif / transaction_mode 完全未使用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设备/IP 交易级特征未使用（洗钱强信号）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图拓扑高阶特征缺失（无 PageRank 等）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销户模块完全未实现（快速销户是关键信号）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时间窗口仅 1H（无日/周/月维度）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领域知识特征缺失（整数金额、限额利用率）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行为序列模式缺失（沉睡-爆发等）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对手风险传播缺失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</a:defRPr>
            </a:pPr>
            <a:r>
              <a:t>注意：以上缺口不告诉 LLM，让 LLM 自己发现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</a:defRPr>
            </a:pPr>
            <a: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03 参考文献总览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FF"/>
                </a:solidFill>
              </a:defRPr>
            </a:pPr>
            <a:r>
              <a:t>6 篇论文各借鉴特定组件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66160" cy="59436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LLM-FE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733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EEEEE"/>
                </a:solidFill>
              </a:defRPr>
            </a:pPr>
            <a:r>
              <a:t>ICLR'26 WS  |  搜索引擎骨架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35661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岛屿模型进化搜索</a:t>
            </a:r>
            <a:br/>
            <a:r>
              <a:t>Boltzmann 采样</a:t>
            </a:r>
            <a:br/>
            <a:r>
              <a:t>排名 1.54（第一）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566160" cy="5943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3898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MedFeat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733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EEEEE"/>
                </a:solidFill>
              </a:defRPr>
            </a:pPr>
            <a:r>
              <a:t>arXiv'26  |  SHAP 导航系统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965960"/>
            <a:ext cx="35661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1031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SHAP 引导搜索方向</a:t>
            </a:r>
            <a:br/>
            <a:r>
              <a:t>失败记忆机制</a:t>
            </a:r>
            <a:br/>
            <a:r>
              <a:t>去掉 SHAP→F1 降 9-26%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566160" cy="5943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3898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CAAFE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6733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EEEEE"/>
                </a:solidFill>
              </a:defRPr>
            </a:pPr>
            <a:r>
              <a:t>NeurIPS'23  |  代码安全与反馈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965960"/>
            <a:ext cx="35661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1031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安全白名单</a:t>
            </a:r>
            <a:br/>
            <a:r>
              <a:t>错误反馈循环</a:t>
            </a:r>
            <a:br/>
            <a:r>
              <a:t>文本解释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0480"/>
            <a:ext cx="3566160" cy="5943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8587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OCTree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1422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EEEEE"/>
                </a:solidFill>
              </a:defRPr>
            </a:pPr>
            <a:r>
              <a:t>NeurIPS'24  |  可解释性增强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434840"/>
            <a:ext cx="35661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572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决策树规则反馈</a:t>
            </a:r>
            <a:br/>
            <a:r>
              <a:t>语义增强</a:t>
            </a:r>
            <a:br/>
            <a:r>
              <a:t>可选组件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840480"/>
            <a:ext cx="3566160" cy="59436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38587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CoFEH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1422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EEEEE"/>
                </a:solidFill>
              </a:defRPr>
            </a:pPr>
            <a:r>
              <a:t>ASPLOS'26  |  V2 升级方向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4434840"/>
            <a:ext cx="35661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4572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MCTS + 贝叶斯优化</a:t>
            </a:r>
            <a:br/>
            <a:r>
              <a:t>实现复杂度最高</a:t>
            </a:r>
            <a:br/>
            <a:r>
              <a:t>排名 1.75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3840480"/>
            <a:ext cx="3566160" cy="5943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38587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Balek'25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1422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EEEEE"/>
                </a:solidFill>
              </a:defRPr>
            </a:pPr>
            <a:r>
              <a:t>ML Journal  |  统计验证方法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4434840"/>
            <a:ext cx="35661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4572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Bootstrap 卡方检验</a:t>
            </a:r>
            <a:br/>
            <a:r>
              <a:t>Cramer's V</a:t>
            </a:r>
            <a:br/>
            <a:r>
              <a:t>人工评估协议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</a:defRPr>
            </a:pPr>
            <a:r>
              <a:t>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03 核心借鉴：LLM-FE + MedFeat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FF"/>
                </a:solidFill>
              </a:defRPr>
            </a:pPr>
            <a:r>
              <a:t>搜索效率 + 搜索方向的融合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8EF7"/>
                </a:solidFill>
              </a:defRPr>
            </a:pPr>
            <a:r>
              <a:t>LLM-FE：岛屿模型进化搜索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算法流程：</a:t>
            </a:r>
            <a:br/>
            <a:r>
              <a:t>1. 维护 m=3 个岛屿（独立种群）</a:t>
            </a:r>
            <a:br/>
            <a:r>
              <a:t>2. 每轮从岛屿中 Boltzmann 采样选 k=2 示例</a:t>
            </a:r>
            <a:br/>
            <a:r>
              <a:t>   P_i = exp(score_i / τ) / Σ exp(score / τ)</a:t>
            </a:r>
            <a:br/>
            <a:r>
              <a:t>3. 示例作为 in-context 输入给 LLM</a:t>
            </a:r>
            <a:br/>
            <a:r>
              <a:t>4. LLM 生成 b=3 个候选特征代码</a:t>
            </a:r>
            <a:br/>
            <a:r>
              <a:t>5. 执行、评估、放回岛屿</a:t>
            </a:r>
            <a:br/>
            <a:r>
              <a:t>6. 岛屿间迁移最优特征</a:t>
            </a:r>
            <a:br/>
            <a:br/>
            <a:r>
              <a:t>实验数据：</a:t>
            </a:r>
            <a:br/>
            <a:r>
              <a:t>• 27 个 OpenML 数据集排名 1.54（第一）</a:t>
            </a:r>
            <a:br/>
            <a:r>
              <a:t>• 去掉领域知识 → 准确率 -26%</a:t>
            </a:r>
            <a:br/>
            <a:r>
              <a:t>• 去掉进化精炼 → 准确率 -31%</a:t>
            </a:r>
            <a:br/>
            <a:r>
              <a:t>• Llama-3.1-8B 和 GPT-3.5 均有效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</a:defRPr>
            </a:pPr>
            <a:r>
              <a:t>MedFeat：SHAP 引导的特征生成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86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算法流程：</a:t>
            </a:r>
            <a:br/>
            <a:r>
              <a:t>1. 每轮训练 XGBoost，计算 SHAP 值</a:t>
            </a:r>
            <a:br/>
            <a:r>
              <a:t>   s_i = mean(|SHAP_values[:, i]|)</a:t>
            </a:r>
            <a:br/>
            <a:r>
              <a:t>2. 归一化为概率分布</a:t>
            </a:r>
            <a:br/>
            <a:r>
              <a:t>3. 构建反馈：top-10 特征 + 弱势维度</a:t>
            </a:r>
            <a:br/>
            <a:r>
              <a:t>4. LLM 根据 SHAP 反馈生成新特征</a:t>
            </a:r>
            <a:br/>
            <a:r>
              <a:t>5. 接受条件：ΔLoss ≥ baseline + β(0.01)</a:t>
            </a:r>
            <a:br/>
            <a:r>
              <a:t>6. 失败记忆 → 防止重复生成</a:t>
            </a:r>
            <a:br/>
            <a:br/>
            <a:r>
              <a:t>实验数据：</a:t>
            </a:r>
            <a:br/>
            <a:r>
              <a:t>• 去掉 SHAP 引导 → F1 下降 9-26%</a:t>
            </a:r>
            <a:br/>
            <a:r>
              <a:t>• 去掉模型感知 → F1 最高下降 35.9%</a:t>
            </a:r>
            <a:br/>
            <a:r>
              <a:t>• SHAP 引导是最关键组件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6080760"/>
            <a:ext cx="11247120" cy="5029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8EF7"/>
                </a:solidFill>
              </a:defRPr>
            </a:pPr>
            <a:r>
              <a:t>我们的融合：LLM-FE 的维度岛屿并行 + MedFeat 的 SHAP 引导 + 交易模式说明 = 高效 + 有方向 + 有分工的搜索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</a:defRPr>
            </a:pPr>
            <a: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04 系统架构：五大组件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FF"/>
                </a:solidFill>
              </a:defRPr>
            </a:pPr>
            <a:r>
              <a:t>各组件如何组合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1463040"/>
            <a:ext cx="502920" cy="502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087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103120"/>
            <a:ext cx="21488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2402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74C3C"/>
                </a:solidFill>
              </a:defRPr>
            </a:pPr>
            <a:r>
              <a:t>领域知识+</a:t>
            </a:r>
            <a:br/>
            <a:r>
              <a:t>交易模式说明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10896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</a:defRPr>
            </a:pPr>
            <a:r>
              <a:t>专家访谈 + 200+识别点</a:t>
            </a:r>
            <a:br/>
            <a:r>
              <a:t>+ 8种交易模式(浦发)</a:t>
            </a:r>
            <a:br/>
            <a:r>
              <a:t>→ 注入 System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31089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99999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1463040"/>
            <a:ext cx="502920" cy="502920"/>
          </a:xfrm>
          <a:prstGeom prst="round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0712" y="15087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33472" y="2103120"/>
            <a:ext cx="21488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0632" y="22402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F8EF7"/>
                </a:solidFill>
              </a:defRPr>
            </a:pPr>
            <a:r>
              <a:t>维度岛屿搜索</a:t>
            </a:r>
            <a:br/>
            <a:r>
              <a:t>（改进LLM-FE）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0632" y="310896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</a:defRPr>
            </a:pPr>
            <a:r>
              <a:t>4维度岛屿并行搜索</a:t>
            </a:r>
            <a:br/>
            <a:r>
              <a:t>金额/时间/行为/主体</a:t>
            </a:r>
            <a:br/>
            <a:r>
              <a:t>Boltzmann + 失败记忆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31089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99999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9864" y="1463040"/>
            <a:ext cx="502920" cy="5029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9864" y="15087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92624" y="2103120"/>
            <a:ext cx="21488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9784" y="22402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ECC71"/>
                </a:solidFill>
              </a:defRPr>
            </a:pPr>
            <a:r>
              <a:t>代码执行沙盒</a:t>
            </a:r>
            <a:br/>
            <a:r>
              <a:t>（CAAFE）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9784" y="310896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</a:defRPr>
            </a:pPr>
            <a:r>
              <a:t>安全白名单</a:t>
            </a:r>
            <a:br/>
            <a:r>
              <a:t>语法检查 → 执行</a:t>
            </a:r>
            <a:br/>
            <a:r>
              <a:t>错误反馈给 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1464" y="31089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99999"/>
                </a:solidFill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9016" y="1463040"/>
            <a:ext cx="502920" cy="5029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29016" y="15087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51776" y="2103120"/>
            <a:ext cx="21488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88936" y="22402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39C12"/>
                </a:solidFill>
              </a:defRPr>
            </a:pPr>
            <a:r>
              <a:t>SHAP 导航</a:t>
            </a:r>
            <a:br/>
            <a:r>
              <a:t>（MedFeat）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8936" y="310896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</a:defRPr>
            </a:pPr>
            <a:r>
              <a:t>XGBoost + SHAP 重要性</a:t>
            </a:r>
            <a:br/>
            <a:r>
              <a:t>接受条件：ΔPR-AUC ≥ β</a:t>
            </a:r>
            <a:br/>
            <a:r>
              <a:t>反馈有价值/冗余维度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0616" y="31089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99999"/>
                </a:solidFill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88168" y="1463040"/>
            <a:ext cx="502920" cy="5029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88168" y="15087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10928" y="2103120"/>
            <a:ext cx="21488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48088" y="22402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9B59B6"/>
                </a:solidFill>
              </a:defRPr>
            </a:pPr>
            <a:r>
              <a:t>统计验证层</a:t>
            </a:r>
            <a:br/>
            <a:r>
              <a:t>（Balek）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48088" y="310896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</a:defRPr>
            </a:pPr>
            <a:r>
              <a:t>Bootstrap 卡方检验</a:t>
            </a:r>
            <a:br/>
            <a:r>
              <a:t>Cramer's V + 互信息</a:t>
            </a:r>
            <a:br/>
            <a:r>
              <a:t>五篇论文无一使用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</a:defRPr>
            </a:pPr>
            <a:r>
              <a:t>组合逻辑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212080"/>
            <a:ext cx="73152" cy="2286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1937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LLM-FE 原论文：岛屿随机分组，搜索效率高但方向盲目 → 我们改为按风险维度划分 4 岛屿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513832"/>
            <a:ext cx="73152" cy="2286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49554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MedFeat 提供 SHAP 引导，弱势维度天然对应到具体岛屿应该加强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815584"/>
            <a:ext cx="73152" cy="228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79729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8 种交易模式说明（浦发文档）让 LLM 理解数据生成逻辑，大幅降低猜测成本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6117336"/>
            <a:ext cx="73152" cy="2286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60990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CAAFE 保障代码安全执行 + Balek 填补统计验证缺口（五篇论文无一使用）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</a:defRPr>
            </a:pPr>
            <a: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05 核心流程：Phase 0 输入准备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FF"/>
                </a:solidFill>
              </a:defRPr>
            </a:pPr>
            <a:r>
              <a:t>一次性准备工作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66160" cy="50292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447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Step 1: 运行 SimECNY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74520"/>
            <a:ext cx="35661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8EF7"/>
                </a:solidFill>
              </a:defRPr>
            </a:pPr>
            <a:r>
              <a:t>运行 SimECNY</a:t>
            </a:r>
            <a:br/>
            <a:r>
              <a:t>生成三表 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开户/交易/销户</a:t>
            </a:r>
            <a:br/>
            <a:r>
              <a:t>100K 钱包</a:t>
            </a:r>
            <a:br/>
            <a:r>
              <a:t>~5% 异常率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56616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4447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Step 2: 提取 Schema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874520"/>
            <a:ext cx="35661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0116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</a:defRPr>
            </a:pPr>
            <a:r>
              <a:t>提取 Schema</a:t>
            </a:r>
            <a:br/>
            <a:r>
              <a:t>+ 统计摘要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6517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字段名、类型、取值范围</a:t>
            </a:r>
            <a:br/>
            <a:r>
              <a:t>不发原始数据给 LLM</a:t>
            </a:r>
            <a:br/>
            <a:r>
              <a:t>隐私保护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56616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4447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Step 3: 结构化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874520"/>
            <a:ext cx="35661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0116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</a:defRPr>
            </a:pPr>
            <a:r>
              <a:t>结构化</a:t>
            </a:r>
            <a:br/>
            <a:r>
              <a:t>领域知识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6517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8种交易模式说明(~1200)</a:t>
            </a:r>
            <a:br/>
            <a:r>
              <a:t>专家访谈+识别点(~1800)</a:t>
            </a:r>
            <a:br/>
            <a:r>
              <a:t>总计 ~4000 token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0480"/>
            <a:ext cx="3566160" cy="5029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91363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Step 4: 提取人工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343400"/>
            <a:ext cx="35661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4805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B59B6"/>
                </a:solidFill>
              </a:defRPr>
            </a:pPr>
            <a:r>
              <a:t>提取人工</a:t>
            </a:r>
            <a:br/>
            <a:r>
              <a:t>基线清单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1206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40+ 特征名称列表</a:t>
            </a:r>
            <a:br/>
            <a:r>
              <a:t>告诉 LLM 不要重复</a:t>
            </a:r>
            <a:br/>
            <a:r>
              <a:t>明确已有覆盖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840480"/>
            <a:ext cx="356616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391363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Step 5: 种子规则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4343400"/>
            <a:ext cx="35661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44805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</a:defRPr>
            </a:pPr>
            <a:r>
              <a:t>种子规则</a:t>
            </a:r>
            <a:br/>
            <a:r>
              <a:t>→ Python 示例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1206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15 条检测规则</a:t>
            </a:r>
            <a:br/>
            <a:r>
              <a:t>转为函数示例</a:t>
            </a:r>
            <a:br/>
            <a:r>
              <a:t>用于冷启动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3840480"/>
            <a:ext cx="3566160" cy="50292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391363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Step 6: 组装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4343400"/>
            <a:ext cx="35661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44805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8EF7"/>
                </a:solidFill>
              </a:defRPr>
            </a:pPr>
            <a:r>
              <a:t>组装</a:t>
            </a:r>
            <a:br/>
            <a:r>
              <a:t>System Prompt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51206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~5100 token</a:t>
            </a:r>
            <a:br/>
            <a:r>
              <a:t>分层结构</a:t>
            </a:r>
            <a:br/>
            <a:r>
              <a:t>16K+ 模型宽裕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</a:defRPr>
            </a:pPr>
            <a: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05 核心流程：Phase 1-2 维度岛屿搜索循环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FF"/>
                </a:solidFill>
              </a:defRPr>
            </a:pPr>
            <a:r>
              <a:t>4 维度岛屿 × 3 候选 × 最多 10 轮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743200" cy="50292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898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Step 1 生成候选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874519"/>
            <a:ext cx="27432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965960"/>
            <a:ext cx="2468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4 个维度岛屿各自：</a:t>
            </a:r>
            <a:br/>
            <a:r>
              <a:t>• 金额/时间/行为/主体</a:t>
            </a:r>
            <a:br/>
            <a:r>
              <a:t>• Boltzmann采样 + 维度引导</a:t>
            </a:r>
            <a:br/>
            <a:r>
              <a:t>• 调用 LLM 生成 b=3 候选</a:t>
            </a:r>
            <a:br/>
            <a:r>
              <a:t>→ 本轮共 12 个候选特征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99999"/>
                </a:solidFill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371600"/>
            <a:ext cx="274320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898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Step 2 执行与安全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874519"/>
            <a:ext cx="27432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965960"/>
            <a:ext cx="2468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对每个候选：</a:t>
            </a:r>
            <a:br/>
            <a:r>
              <a:t>• 安全白名单检查</a:t>
            </a:r>
            <a:br/>
            <a:r>
              <a:t>• 沙盒执行(30s/2GB)</a:t>
            </a:r>
            <a:br/>
            <a:r>
              <a:t>• 输出检查：非空/非全0/</a:t>
            </a:r>
            <a:br/>
            <a:r>
              <a:t>  非全1/NaN&lt;50%</a:t>
            </a:r>
            <a:br/>
            <a:r>
              <a:t>• 失败→反馈LLM重试(2次)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99999"/>
                </a:solidFill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274320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3898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Step 3 质量评估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874519"/>
            <a:ext cx="27432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965960"/>
            <a:ext cx="2468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L2 统计验证：</a:t>
            </a:r>
            <a:br/>
            <a:r>
              <a:t>• MI &gt; 0.01 / |corr| &lt; 0.9</a:t>
            </a:r>
            <a:br/>
            <a:r>
              <a:t>L3 模型验证：</a:t>
            </a:r>
            <a:br/>
            <a:r>
              <a:t>• XGBoost 5折CV</a:t>
            </a:r>
            <a:br/>
            <a:r>
              <a:t>• ΔPR-AUC ≥ 0.005</a:t>
            </a:r>
            <a:br/>
            <a:r>
              <a:t>综合打分(归一化后加权)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99999"/>
                </a:solidFill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1371600"/>
            <a:ext cx="2743200" cy="5029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13898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Step 4 记忆更新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1874519"/>
            <a:ext cx="27432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1965960"/>
            <a:ext cx="2468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接受 → 岛屿成功记忆库</a:t>
            </a:r>
            <a:br/>
            <a:r>
              <a:t>拒绝 → 失败记忆库</a:t>
            </a:r>
            <a:br/>
            <a:r>
              <a:t>岛屿间迁移：</a:t>
            </a:r>
            <a:br/>
            <a:r>
              <a:t>• 最优特征广播所有岛屿</a:t>
            </a:r>
            <a:br/>
            <a:r>
              <a:t>SHAP 反馈（给下轮）：</a:t>
            </a:r>
            <a:br/>
            <a:r>
              <a:t>• top-10 + 弱势维度提示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5394960"/>
            <a:ext cx="1161288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440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8EF7"/>
                </a:solidFill>
              </a:defRPr>
            </a:pPr>
            <a:r>
              <a:t>收敛判断：连续 2 轮无新特征通过 → 停止    |    SHAP 全局共享 + 维度引导岛屿专属 + Boltzmann 岛屿独立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0350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</a:defRPr>
            </a:pPr>
            <a:r>
              <a:t>关键参数：m=4 维度岛屿  |  b=3 候选/岛/轮  |  k=2 示例  |  T&lt;=10 轮  |  最多 120 次 LLM 调用  |  beta=0.01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</a:defRPr>
            </a:pPr>
            <a: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05 维度岛屿与 SHAP 融合细节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FF"/>
                </a:solidFill>
              </a:defRPr>
            </a:pPr>
            <a:r>
              <a:t>维度分工 + 全局引导 + 局部多样性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</a:defRPr>
            </a:pPr>
            <a:r>
              <a:t>每轮迭代的执行流程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73152" cy="9144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8EF7"/>
                </a:solidFill>
              </a:defRPr>
            </a:pPr>
            <a:r>
              <a:t>1. SHAP 分析（全局共享）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训练 XGBoost → 计算 SHAP → 生成 top-10 + 弱势维度</a:t>
            </a:r>
            <a:br/>
            <a:r>
              <a:t>所有岛屿共享 SHAP 反馈，弱势维度对应到具体岛屿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63240"/>
            <a:ext cx="73152" cy="914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</a:defRPr>
            </a:pPr>
            <a:r>
              <a:t>2. 维度引导 + 岛屿独立采样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每个岛屿附加维度引导词(如'重点探索金额频次')</a:t>
            </a:r>
            <a:br/>
            <a:r>
              <a:t>Boltzmann 独立采样 k=2 示例 → 岛屿 prompt 不同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206240"/>
            <a:ext cx="73152" cy="914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</a:defRPr>
            </a:pPr>
            <a:r>
              <a:t>3. Prompt = 维度引导(专属) + SHAP(共享) + 示例(独立)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262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User Prompt 三部分组合</a:t>
            </a:r>
            <a:br/>
            <a:r>
              <a:t>维度引导让 LLM 聚焦，SHAP 提供全局方向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49240"/>
            <a:ext cx="73152" cy="9144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349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B59B6"/>
                </a:solidFill>
              </a:defRPr>
            </a:pPr>
            <a:r>
              <a:t>4. 跨维度迁移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692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本轮最高分特征 → 复制到所有岛屿记忆库</a:t>
            </a:r>
            <a:br/>
            <a:r>
              <a:t>好经验跨维度传播，如金额发现启发主体关联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</a:defRPr>
            </a:pPr>
            <a:r>
              <a:t>为什么这样设计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1920240"/>
            <a:ext cx="5029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01168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三层改进：</a:t>
            </a:r>
            <a:br/>
            <a:br/>
            <a:r>
              <a:t>1. 维度划分（我们的改进）</a:t>
            </a:r>
            <a:br/>
            <a:r>
              <a:t>   原论文岛屿随机分组 → 我们按风险维度分</a:t>
            </a:r>
            <a:br/>
            <a:r>
              <a:t>   金额频次 / 时间地域 / 行为序列 / 主体关联</a:t>
            </a:r>
            <a:br/>
            <a:br/>
            <a:r>
              <a:t>2. SHAP 全局引导（MedFeat）</a:t>
            </a:r>
            <a:br/>
            <a:r>
              <a:t>   弱势维度 → 对应岛屿加强探索</a:t>
            </a:r>
            <a:br/>
            <a:br/>
            <a:r>
              <a:t>3. 交易模式说明（浦发文档）</a:t>
            </a:r>
            <a:br/>
            <a:r>
              <a:t>   LLM 知道每种风险模式的参数</a:t>
            </a:r>
            <a:br/>
            <a:r>
              <a:t>   → 精准构造交叉特征</a:t>
            </a:r>
            <a:br/>
            <a:br/>
            <a:r>
              <a:t>= 高效 + 有方向 + 有分工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</a:defRPr>
            </a:pPr>
            <a: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06 Prompt 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FF"/>
                </a:solidFill>
              </a:defRPr>
            </a:pPr>
            <a:r>
              <a:t>System Prompt + User Prompt 分层结构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8EF7"/>
                </a:solidFill>
              </a:defRPr>
            </a:pPr>
            <a:r>
              <a:t>System Prompt（固定, ~5100 token）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669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## 角色定义</a:t>
            </a:r>
            <a:br/>
            <a:r>
              <a:t>你是反洗钱领域的特征工程专家...</a:t>
            </a:r>
            <a:br/>
            <a:br/>
            <a:r>
              <a:t>## 数据结构（Schema + 统计摘要）</a:t>
            </a:r>
            <a:br/>
            <a:r>
              <a:t>开户表 16 字段 | 交易表 20 字段 | 销户表 6 字段</a:t>
            </a:r>
            <a:br/>
            <a:r>
              <a:t>三表关联关系说明</a:t>
            </a:r>
            <a:br/>
            <a:br/>
            <a:r>
              <a:t>## 交易模式说明（浦发，~1200 token）</a:t>
            </a:r>
            <a:br/>
            <a:r>
              <a:t>3 种正常模式 + 5 种风险模式的详细参数</a:t>
            </a:r>
            <a:br/>
            <a:br/>
            <a:r>
              <a:t>## 领域知识</a:t>
            </a:r>
            <a:br/>
            <a:r>
              <a:t>4 类洗钱模式（~800 token）</a:t>
            </a:r>
            <a:br/>
            <a:r>
              <a:t>38 个风险指标（~600 token）</a:t>
            </a:r>
            <a:br/>
            <a:r>
              <a:t>36 条核心识别点（~1000 token）</a:t>
            </a:r>
            <a:br/>
            <a:br/>
            <a:r>
              <a:t>## 已有特征清单（40+, 不要重复）</a:t>
            </a:r>
            <a:br/>
            <a:br/>
            <a:r>
              <a:t>## 约束</a:t>
            </a:r>
            <a:br/>
            <a:r>
              <a:t>30s 执行 / 白名单模块 / 禁用标签列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</a:defRPr>
            </a:pPr>
            <a:r>
              <a:t>User Prompt（每轮动态, ~1500 token）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常规轮（第 2+ 轮）：</a:t>
            </a:r>
            <a:br/>
            <a:r>
              <a:t>• 维度引导词(岛屿专属方向)</a:t>
            </a:r>
            <a:br/>
            <a:r>
              <a:t>• 上轮最佳特征 top-3</a:t>
            </a:r>
            <a:br/>
            <a:r>
              <a:t>• SHAP：top-10 + 弱势维度</a:t>
            </a:r>
            <a:br/>
            <a:r>
              <a:t>• 上轮失败特征 + 原因</a:t>
            </a:r>
            <a:br/>
            <a:r>
              <a:t>• 生成 3 个本维度新特征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11480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20624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冷启动（第 1 轮）：</a:t>
            </a:r>
            <a:br/>
            <a:r>
              <a:t>• 无 SHAP 反馈（首轮）</a:t>
            </a:r>
            <a:br/>
            <a:r>
              <a:t>• 维度引导词 + 种子规则示例</a:t>
            </a:r>
            <a:br/>
            <a:r>
              <a:t>• 参考交易模式说明 + 洗钱模式</a:t>
            </a:r>
            <a:br/>
            <a:r>
              <a:t>• 围绕本岛屿维度出发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</a:defRPr>
            </a:pPr>
            <a:r>
              <a:t>总计 ~6600 token  →  16K+ context 宽裕  |  8K 可压缩识别点(36-&gt;18条)降至 ~5600  |  32K+ 可放入更多原文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</a:defRPr>
            </a:pPr>
            <a: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06 LLM 输出格式与可插拔接口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FF"/>
                </a:solidFill>
              </a:defRPr>
            </a:pPr>
            <a:r>
              <a:t>标准化输出 + 模型无关设计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</a:defRPr>
            </a:pPr>
            <a:r>
              <a:t>LLM 输出 JSON 格式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669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[</a:t>
            </a:r>
            <a:br/>
            <a:r>
              <a:t>  {</a:t>
            </a:r>
            <a:br/>
            <a:r>
              <a:t>    "feature_name": "night_large_fan_out_ratio",</a:t>
            </a:r>
            <a:br/>
            <a:r>
              <a:t>    "description": "夜间大额扇出交易占比",</a:t>
            </a:r>
            <a:br/>
            <a:r>
              <a:t>    "code": "def gen(tx, open_df, close_df):\n...",</a:t>
            </a:r>
            <a:br/>
            <a:r>
              <a:t>    "explanation": "线上跑分模式特征：...",</a:t>
            </a:r>
            <a:br/>
            <a:r>
              <a:t>    "domain_source": "专家访谈-模式3-线上跑分",</a:t>
            </a:r>
            <a:br/>
            <a:r>
              <a:t>    "expected_signal": "洗钱钱包此比值显著高"</a:t>
            </a:r>
            <a:br/>
            <a:r>
              <a:t>  },</a:t>
            </a:r>
            <a:br/>
            <a:r>
              <a:t>  { ... },</a:t>
            </a:r>
            <a:br/>
            <a:r>
              <a:t>  { ... }</a:t>
            </a:r>
            <a:br/>
            <a:r>
              <a:t>]</a:t>
            </a:r>
            <a:br/>
            <a:br/>
            <a:r>
              <a:t>每个特征包含 6 个字段：</a:t>
            </a:r>
            <a:br/>
            <a:r>
              <a:t>• feature_name — 唯一标识</a:t>
            </a:r>
            <a:br/>
            <a:r>
              <a:t>• code — 可直接执行的 Python 函数</a:t>
            </a:r>
            <a:br/>
            <a:r>
              <a:t>• explanation — 可解释性说明（WHY）</a:t>
            </a:r>
            <a:br/>
            <a:r>
              <a:t>• domain_source — 领域知识来源引用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</a:defRPr>
            </a:pPr>
            <a:r>
              <a:t>LLM 可插拔接口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class LLMInterface:</a:t>
            </a:r>
            <a:br/>
            <a:r>
              <a:t>    def generate(self, system_prompt,</a:t>
            </a:r>
            <a:br/>
            <a:r>
              <a:t>                 user_prompt) -&gt; str</a:t>
            </a:r>
            <a:br/>
            <a:br/>
            <a:r>
              <a:t>class OpenAILLM(LLMInterface):  # API</a:t>
            </a:r>
            <a:br/>
            <a:r>
              <a:t>class LocalLLM(LLMInterface):   # 本地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3891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</a:defRPr>
            </a:pPr>
            <a:r>
              <a:t>模型选择依据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846320"/>
            <a:ext cx="53035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9377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LLM-FE 论文验证：</a:t>
            </a:r>
            <a:br/>
            <a:r>
              <a:t>• Llama-3.1-8B 和 GPT-3.5-Turbo 均有效</a:t>
            </a:r>
            <a:br/>
            <a:r>
              <a:t>• 框架对底层 LLM 不敏感</a:t>
            </a:r>
            <a:br/>
            <a:r>
              <a:t>• 搜索智能来自进化框架，不是 LLM 本身</a:t>
            </a:r>
            <a:br/>
            <a:r>
              <a:t>→ 具体模型根据实际可用资源确定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</a:defRPr>
            </a:pPr>
            <a: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07 四级验证框架（上）：L1 代码 + L2 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FF"/>
                </a:solidFill>
              </a:defRPr>
            </a:pPr>
            <a:r>
              <a:t>逐级过滤，只保留高质量特征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8EF7"/>
                </a:solidFill>
              </a:defRPr>
            </a:pPr>
            <a:r>
              <a:t>L1: 代码验证（来自 CAAFE）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669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8EF7"/>
                </a:solidFill>
              </a:defRPr>
            </a:pPr>
            <a:r>
              <a:t>安全白名单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9659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仅允许 pandas/numpy/scipy/sklearn</a:t>
            </a:r>
            <a:br/>
            <a:r>
              <a:t>禁止 os/sys/subprocess/open/exec/eval/网络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788920"/>
            <a:ext cx="5120640" cy="9144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8EF7"/>
                </a:solidFill>
              </a:defRPr>
            </a:pPr>
            <a:r>
              <a:t>执行成功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9260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30 秒内无异常退出</a:t>
            </a:r>
            <a:br/>
            <a:r>
              <a:t>失败 → 错误信息反馈 LLM 重试（最多 2 次）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749040"/>
            <a:ext cx="5120640" cy="9144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86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8EF7"/>
                </a:solidFill>
              </a:defRPr>
            </a:pPr>
            <a:r>
              <a:t>输出格式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8862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返回 DataFrame</a:t>
            </a:r>
            <a:br/>
            <a:r>
              <a:t>含 wallet_id 或 tx_id 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709160"/>
            <a:ext cx="5120640" cy="9144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8EF7"/>
                </a:solidFill>
              </a:defRPr>
            </a:pPr>
            <a:r>
              <a:t>数据质量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8463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非全 0、非全 1</a:t>
            </a:r>
            <a:br/>
            <a:r>
              <a:t>NaN 不超过 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</a:defRPr>
            </a:pPr>
            <a:r>
              <a:t>L2: 统计验证（来自 Balek）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828800"/>
            <a:ext cx="53035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9202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互信息检验</a:t>
            </a:r>
            <a:br/>
            <a:r>
              <a:t>MI(feature, label) &gt; 0.01</a:t>
            </a:r>
            <a:br/>
            <a:r>
              <a:t>→ 特征与标签有最低限度的信息关联</a:t>
            </a:r>
            <a:br/>
            <a:br/>
            <a:r>
              <a:t>冗余度检验</a:t>
            </a:r>
            <a:br/>
            <a:r>
              <a:t>与每个已有特征 |corr| &lt; 0.9</a:t>
            </a:r>
            <a:br/>
            <a:r>
              <a:t>→ 避免重复特征，保证增量信息</a:t>
            </a:r>
            <a:br/>
            <a:br/>
            <a:r>
              <a:t>Cramer's V（分类特征）</a:t>
            </a:r>
            <a:br/>
            <a:r>
              <a:t>V &gt; 0.05</a:t>
            </a:r>
            <a:br/>
            <a:r>
              <a:t>→ 不受样本量影响的效应大小度量</a:t>
            </a:r>
            <a:br/>
            <a:br/>
            <a:r>
              <a:t>Bootstrap 卡方检验</a:t>
            </a:r>
            <a:br/>
            <a:r>
              <a:t>2500 次重采样，mean(p) &lt; 0.05</a:t>
            </a:r>
            <a:br/>
            <a:r>
              <a:t>→ 统计显著性的稳健估计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6126480"/>
            <a:ext cx="1124712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</a:defRPr>
            </a:pPr>
            <a:r>
              <a:t>关键发现：五篇参考论文（LLM-FE, CAAFE, MedFeat, OCTree, CoFEH）无一使用统计检验。我们用 Balek 的方法填补这个缺口。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</a:defRPr>
            </a:pPr>
            <a: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07 四级验证框架（下）：L3 模型 + L4 稳定性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FF"/>
                </a:solidFill>
              </a:defRPr>
            </a:pPr>
            <a:r>
              <a:t>PR-AUC 增量 + Bootstrap 稳定性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</a:defRPr>
            </a:pPr>
            <a:r>
              <a:t>L3: 模型验证（来自 MedFeat）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669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303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流程：</a:t>
            </a:r>
            <a:br/>
            <a:r>
              <a:t>1. 基线：40 人工特征 → XGBoost → 5 折 CV</a:t>
            </a:r>
            <a:br/>
            <a:r>
              <a:t>   → PR-AUC_baseline</a:t>
            </a:r>
            <a:br/>
            <a:br/>
            <a:r>
              <a:t>2. 增量：40 人工 + 新特征 → XGBoost → 5 折 CV</a:t>
            </a:r>
            <a:br/>
            <a:r>
              <a:t>   → PR-AUC_augmented</a:t>
            </a:r>
            <a:br/>
            <a:br/>
            <a:r>
              <a:t>3. 接受条件：</a:t>
            </a:r>
            <a:br/>
            <a:r>
              <a:t>   ΔPR-AUC = augmented - baseline ≥ 0.005</a:t>
            </a:r>
            <a:br/>
            <a:br/>
            <a:r>
              <a:t>XGBoost 参数：</a:t>
            </a:r>
            <a:br/>
            <a:r>
              <a:t>  scale_pos_weight=19（正样本~5%, 19:1）</a:t>
            </a:r>
            <a:br/>
            <a:r>
              <a:t>  eval_metric='aucpr'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B59B6"/>
                </a:solidFill>
              </a:defRPr>
            </a:pPr>
            <a:r>
              <a:t>L4: 稳定性验证（最终阶段）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3035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流程：</a:t>
            </a:r>
            <a:br/>
            <a:r>
              <a:t>1. 10 次 Bootstrap 重采样</a:t>
            </a:r>
            <a:br/>
            <a:r>
              <a:t>2. 每次：训练 XGBoost → 计算 SHAP</a:t>
            </a:r>
            <a:br/>
            <a:r>
              <a:t>   → 记录 top-20 特征排名</a:t>
            </a:r>
            <a:br/>
            <a:br/>
            <a:r>
              <a:t>3. 计算 Nogueira 稳定性指数</a:t>
            </a:r>
            <a:br/>
            <a:r>
              <a:t>   衡量 10 次结果中特征排名一致性</a:t>
            </a:r>
            <a:br/>
            <a:br/>
            <a:r>
              <a:t>4. 要求：stability_index &gt; 0.8</a:t>
            </a:r>
            <a:br/>
            <a:br/>
            <a:r>
              <a:t>注意：L4 不在搜索循环中执行</a:t>
            </a:r>
            <a:br/>
            <a:r>
              <a:t>（成本太高），仅在最终特征集确定后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</a:defRPr>
            </a:pPr>
            <a:r>
              <a:t>为什么用 PR-AUC 而非 ROC-AUC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60720"/>
            <a:ext cx="112471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8064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AML 数据正样本 ~5%，ROC-AUC 会过度乐观。五篇论文用的 Accuracy/ROC-AUC/错误率 在不平衡场景下都有问题。</a:t>
            </a:r>
            <a:br/>
            <a:r>
              <a:t>PR-AUC 直接衡量「在找出的可疑交易中，有多少是真正可疑的」—— 这才是反洗钱场景的核心关注点。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</a:defRPr>
            </a:pPr>
            <a: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07 最终增量贡献实验设计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FF"/>
                </a:solidFill>
              </a:defRPr>
            </a:pPr>
            <a:r>
              <a:t>5 组对比实验验证 LLM 特征的真实价值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148840" cy="77724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8988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实验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基线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148840"/>
            <a:ext cx="2148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</a:defRPr>
            </a:pPr>
            <a:r>
              <a:t>40 个人工特征</a:t>
            </a:r>
            <a:br/>
            <a:r>
              <a:t>→ XGBoost</a:t>
            </a:r>
            <a:br/>
            <a:r>
              <a:t>→ PR-AUC_baseline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33472" y="1371600"/>
            <a:ext cx="2148840" cy="7772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38988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实验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73736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增量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33472" y="2148840"/>
            <a:ext cx="2148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0632" y="228600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</a:defRPr>
            </a:pPr>
            <a:r>
              <a:t>40 人工 + N 个 LLM 特征</a:t>
            </a:r>
            <a:br/>
            <a:r>
              <a:t>→ XGBoost</a:t>
            </a:r>
            <a:br/>
            <a:r>
              <a:t>→ PR-AUC_augmented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2624" y="1371600"/>
            <a:ext cx="2148840" cy="7772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84064" y="138988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实验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4064" y="173736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独立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92624" y="2148840"/>
            <a:ext cx="2148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9784" y="228600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</a:defRPr>
            </a:pPr>
            <a:r>
              <a:t>仅 N 个 LLM 特征</a:t>
            </a:r>
            <a:br/>
            <a:r>
              <a:t>→ XGBoost</a:t>
            </a:r>
            <a:br/>
            <a:r>
              <a:t>→ PR-AUC_llm_only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51776" y="1371600"/>
            <a:ext cx="2148840" cy="77724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43216" y="138988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实验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3216" y="173736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随机对照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51776" y="2148840"/>
            <a:ext cx="2148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88936" y="228600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</a:defRPr>
            </a:pPr>
            <a:r>
              <a:t>40 人工 + N 个随机特征</a:t>
            </a:r>
            <a:br/>
            <a:r>
              <a:t>→ XGBoost</a:t>
            </a:r>
            <a:br/>
            <a:r>
              <a:t>→ PR-AUC_random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10928" y="1371600"/>
            <a:ext cx="2148840" cy="7772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02368" y="138988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实验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02368" y="173736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消融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10928" y="2148840"/>
            <a:ext cx="2148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48088" y="228600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</a:defRPr>
            </a:pPr>
            <a:r>
              <a:t>逐个移除 LLM 特征</a:t>
            </a:r>
            <a:br/>
            <a:r>
              <a:t>→ 观察 PR-AUC 变化</a:t>
            </a:r>
            <a:br/>
            <a:r>
              <a:t>→ 识别最关键特征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</a:defRPr>
            </a:pPr>
            <a:r>
              <a:t>报告指标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846320"/>
            <a:ext cx="112471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9377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• 增量 PR-AUC = PR-AUC_augmented - PR-AUC_baseline（应 &gt; 0，核心指标）</a:t>
            </a:r>
            <a:br/>
            <a:r>
              <a:t>• 独立 PR-AUC = PR-AUC_llm_only（LLM 特征独立的预测能力）</a:t>
            </a:r>
            <a:br/>
            <a:r>
              <a:t>• 随机对照 = PR-AUC_random - PR-AUC_baseline（应 ≈ 0，排除过拟合假象）</a:t>
            </a:r>
            <a:br/>
            <a:r>
              <a:t>• 各 LLM 特征的 SHAP 排名（在完整模型中的重要性）</a:t>
            </a:r>
            <a:br/>
            <a:r>
              <a:t>• 每个 LLM 特征的消融贡献（移除后 PR-AUC 下降幅度）</a:t>
            </a:r>
            <a:br/>
            <a:r>
              <a:t>• 所有实验使用 5 折分层 CV，报告均值 ± 标准差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</a:defRPr>
            </a:pPr>
            <a: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08 核心创新点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FF"/>
                </a:solidFill>
              </a:defRPr>
            </a:pPr>
            <a:r>
              <a:t>5 个论文贡献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99032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8EF7"/>
                </a:solidFill>
              </a:defRPr>
            </a:pPr>
            <a:r>
              <a:t>领域知识+交易模式</a:t>
            </a:r>
            <a:br/>
            <a:r>
              <a:t>增强的LLM特征工程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417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首次将专家知识 + 数据集交易模式说明（8种模式详细参数）系统性注入 LLM 特征生成。</a:t>
            </a:r>
            <a:br/>
            <a:r>
              <a:t>现有方法：LLM-FE 仅靠特征名、MedFeat 无领域知识、CAAFE 仅靠数据集描述。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11247120" cy="9144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45720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688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450592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</a:defRPr>
            </a:pPr>
            <a:r>
              <a:t>多表关联</a:t>
            </a:r>
            <a:br/>
            <a:r>
              <a:t>特征发现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468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首次将 LLM 特征工程扩展到多表关系型数据（开户 + 交易 + 销户三表关联）。</a:t>
            </a:r>
            <a:br/>
            <a:r>
              <a:t>所有 6 篇参考论文均仅支持单表输入。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83280"/>
            <a:ext cx="11247120" cy="9144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457200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5204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502152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</a:defRPr>
            </a:pPr>
            <a:r>
              <a:t>维度岛屿</a:t>
            </a:r>
            <a:br/>
            <a:r>
              <a:t>进化搜索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5204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改进 LLM-FE 的随机岛屿为按风险维度划分的 4 岛屿（金额/时间/行为/主体），</a:t>
            </a:r>
            <a:br/>
            <a:r>
              <a:t>结合 SHAP 引导，实现高效 + 有方向 + 有分工的搜索。原论文岛屿无差异化。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34840"/>
            <a:ext cx="11247120" cy="9144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526279"/>
            <a:ext cx="457200" cy="4572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57199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53711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B59B6"/>
                </a:solidFill>
              </a:defRPr>
            </a:pPr>
            <a:r>
              <a:t>四级特征</a:t>
            </a:r>
            <a:br/>
            <a:r>
              <a:t>验证框架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57199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代码 → 统计 → 模型 → 稳定性，超越现有论文的验证深度。</a:t>
            </a:r>
            <a:br/>
            <a:r>
              <a:t>关键：五篇论文无一使用统计检验，我们用 Balek 方法填补。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486399"/>
            <a:ext cx="11247120" cy="9144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577840"/>
            <a:ext cx="45720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6235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605272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</a:defRPr>
            </a:pPr>
            <a:r>
              <a:t>金融领域</a:t>
            </a:r>
            <a:br/>
            <a:r>
              <a:t>可解释特征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6235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每个 LLM 特征附带领域依据说明和知识来源引用，</a:t>
            </a:r>
            <a:br/>
            <a:r>
              <a:t>满足金融监管的可解释性要求。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</a:defRPr>
            </a:pPr>
            <a:r>
              <a:t>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09 可行性评估与风险分析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FF"/>
                </a:solidFill>
              </a:defRPr>
            </a:pPr>
            <a:r>
              <a:t>总体判断：方案可行，3 个中等风险需关注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</a:defRPr>
            </a:pPr>
            <a:r>
              <a:t>高可行性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3657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领域知识注入：数据齐全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代码执行沙盒：成熟方案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L1-L2 验证：标准库实现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三表 merge：代码已写好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</a:defRPr>
            </a:pPr>
            <a:r>
              <a:t>可解释性：LLM 天然擅长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</a:defRPr>
            </a:pPr>
            <a:r>
              <a:t>中等风险（需重点关注）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83080"/>
            <a:ext cx="73152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</a:defRPr>
            </a:pPr>
            <a:r>
              <a:t>风险 1: LLM 代码生成质量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031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三表比单表复杂，6 篇论文仅验证单表</a:t>
            </a:r>
            <a:br/>
            <a:r>
              <a:t>建议：第 1 轮手动测试 3-5 个候选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560320"/>
            <a:ext cx="73152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6060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</a:defRPr>
            </a:pPr>
            <a:r>
              <a:t>风险 2: PR-AUC 增量阈值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803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取决于基线预测能力，当前阈值可能过严或过松</a:t>
            </a:r>
            <a:br/>
            <a:r>
              <a:t>建议：先跑基线 PR-AUC 再定阈值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337560"/>
            <a:ext cx="73152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3832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</a:defRPr>
            </a:pPr>
            <a:r>
              <a:t>风险 3: 打分公式量纲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6576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SHAP_rank(整数) vs MI(小数) 量纲不同</a:t>
            </a:r>
            <a:br/>
            <a:r>
              <a:t>建议：min-max 归一化到 [0,1] 后再加权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99999"/>
                </a:solidFill>
              </a:defRPr>
            </a:pPr>
            <a:r>
              <a:t>低风险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09160"/>
            <a:ext cx="112471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• SimECNY 数据生成：销户模块需修复硬编码路径（已有方案）</a:t>
            </a:r>
            <a:br/>
            <a:r>
              <a:t>• LLM 调用成本：最多 120 次调用，API $7-20 / 本地 ~60min，整个流程 1-2 小时可完成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</a:defRPr>
            </a:pPr>
            <a:r>
              <a:t>实施前必须完成的三件事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6035040"/>
            <a:ext cx="11247120" cy="5943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0807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</a:defRPr>
            </a:pPr>
            <a:r>
              <a:t>1. 先生成数据、跑基线 PR-AUC（决定阈值）   2. 第 1 轮手动测试 LLM 输出质量（验证 prompt）   3. 补充打分归一化实现（避免量纲问题）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</a:defRPr>
            </a:pPr>
            <a: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10 实施路线图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FF"/>
                </a:solidFill>
              </a:defRPr>
            </a:pPr>
            <a:r>
              <a:t>四阶段共约 7.5 天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743200" cy="82296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Phase 0: 数据生成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EEEEE"/>
                </a:solidFill>
              </a:defRPr>
            </a:pPr>
            <a:r>
              <a:t>0.5 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194560"/>
            <a:ext cx="27432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运行 SimECNY 三模块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修复销户硬编码路径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验证字段/标签/关联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371600"/>
            <a:ext cx="2743200" cy="8229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Phase 1: 基础设施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EEEEE"/>
                </a:solidFill>
              </a:defRPr>
            </a:pPr>
            <a:r>
              <a:t>2 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2194560"/>
            <a:ext cx="27432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33172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数据加载 + 三表关联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领域知识结构化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种子规则转换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沙盒 + 评估模块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LLM 接口 + Prompt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2743200" cy="8229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Phase 2: 核心搜索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EEEEE"/>
                </a:solidFill>
              </a:defRPr>
            </a:pPr>
            <a:r>
              <a:t>3 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194560"/>
            <a:ext cx="27432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33172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4维度岛屿结构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Boltzmann + 维度引导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搜索循环主程序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冷启动 + 跨维度迁移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收敛判断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1371600"/>
            <a:ext cx="2743200" cy="8229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Phase 3: 验证产出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EEEEE"/>
                </a:solidFill>
              </a:defRPr>
            </a:pPr>
            <a:r>
              <a:t>2 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2194560"/>
            <a:ext cx="27432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233172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L4 稳定性验证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5 组增量实验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特征字典生成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结果报告 + 可视化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</a:defRPr>
            </a:pPr>
            <a:r>
              <a:t>预期产出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5623560"/>
            <a:ext cx="2148840" cy="1005840"/>
          </a:xfrm>
          <a:prstGeom prst="roundRect">
            <a:avLst/>
          </a:prstGeom>
          <a:solidFill>
            <a:srgbClr val="4F8EF7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65099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15-30 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9893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经过四级验证的</a:t>
            </a:r>
            <a:br/>
            <a:r>
              <a:t>高质量新特征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33472" y="5623560"/>
            <a:ext cx="2148840" cy="1005840"/>
          </a:xfrm>
          <a:prstGeom prst="roundRect">
            <a:avLst/>
          </a:prstGeom>
          <a:solidFill>
            <a:srgbClr val="2ECC71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24912" y="565099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特征字典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24912" y="59893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代码+解释+SHAP</a:t>
            </a:r>
            <a:br/>
            <a:r>
              <a:t>+统计指标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92624" y="5623560"/>
            <a:ext cx="2148840" cy="100584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84064" y="565099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增量报告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84064" y="59893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PR-AUC/F1/Recall</a:t>
            </a:r>
            <a:br/>
            <a:r>
              <a:t>5 组对比实验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51776" y="5623560"/>
            <a:ext cx="2148840" cy="1005840"/>
          </a:xfrm>
          <a:prstGeom prst="roundRect">
            <a:avLst/>
          </a:prstGeom>
          <a:solidFill>
            <a:srgbClr val="9B59B6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43216" y="565099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验证报告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43216" y="59893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四级验证结果</a:t>
            </a:r>
            <a:br/>
            <a:r>
              <a:t>稳定性分析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10928" y="5623560"/>
            <a:ext cx="2148840" cy="1005840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02368" y="565099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可复用框架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02368" y="59893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可插拔 LLM</a:t>
            </a:r>
            <a:br/>
            <a:r>
              <a:t>可换数据集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</a:defRPr>
            </a:pPr>
            <a:r>
              <a:t>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